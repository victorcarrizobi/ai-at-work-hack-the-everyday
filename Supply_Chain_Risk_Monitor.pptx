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0" y="2103120"/>
            <a:ext cx="9418320" cy="381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286000"/>
            <a:ext cx="9418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8FAFC"/>
                </a:solidFill>
                <a:latin typeface="Calibri"/>
              </a:defRPr>
            </a:pPr>
            <a:r>
              <a:t>SUPPLY CHAIN RISK MONITOR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200400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94A3B8"/>
                </a:solidFill>
                <a:latin typeface="Calibri"/>
              </a:defRPr>
            </a:pPr>
            <a:r>
              <a:t>AI-Powered Supplier Quality Scoring | Real-Time Risk Detection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3840480"/>
            <a:ext cx="9418320" cy="381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438912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22C55E"/>
                </a:solidFill>
                <a:latin typeface="Calibri"/>
              </a:defRPr>
            </a:pPr>
            <a:r>
              <a:t>Data in the D 2026 Hackathon  |  Hack the Grind Track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93776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Calibri"/>
              </a:defRPr>
            </a:pPr>
            <a:r>
              <a:t>Built with Snowflake Dynamic Tables, Cortex AI, and Streamlit  |  Powered by CoCo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5669280"/>
            <a:ext cx="9418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8FAFC"/>
                </a:solidFill>
                <a:latin typeface="Calibri"/>
              </a:defRPr>
            </a:pPr>
            <a:r>
              <a:t>Victor Carrizobi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2C55E"/>
                </a:solidFill>
                <a:latin typeface="Calibri"/>
              </a:defRPr>
            </a:pPr>
            <a:r>
              <a:t>SITUATION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640080"/>
            <a:ext cx="10698480" cy="381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8FAFC"/>
                </a:solidFill>
                <a:latin typeface="Calibri"/>
              </a:defRPr>
            </a:pPr>
            <a:r>
              <a:t>The Problem: Risk Hiding in Plain Sight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5943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94A3B8"/>
                </a:solidFill>
                <a:latin typeface="Calibri"/>
              </a:defRPr>
            </a:pPr>
            <a:r>
              <a:t>Supply chain managers oversee hundreds of suppliers.</a:t>
            </a:r>
            <a:br/>
            <a:br/>
            <a:r>
              <a:t>Defect data lives in one system. Warranty complaints in another.</a:t>
            </a:r>
            <a:br/>
            <a:r>
              <a:t>Purchasing reviews happen quarterly.</a:t>
            </a:r>
            <a:br/>
            <a:br/>
            <a:r>
              <a:t>By the time risk is identified, it's already a crisis:</a:t>
            </a:r>
            <a:br/>
            <a:r>
              <a:t>  •  Safety-critical defects shipped to customers</a:t>
            </a:r>
            <a:br/>
            <a:r>
              <a:t>  •  Angry warranty complaints piling up</a:t>
            </a:r>
            <a:br/>
            <a:r>
              <a:t>  •  Millions in open purchase orders exposed</a:t>
            </a:r>
            <a:br/>
            <a:br/>
            <a:r>
              <a:t>The data exists. Nobody is connecting the dots in real time.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79" y="1737360"/>
            <a:ext cx="3931920" cy="9144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80960" y="178308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A78BFA"/>
                </a:solidFill>
                <a:latin typeface="Calibri"/>
              </a:defRPr>
            </a:pPr>
            <a:r>
              <a:t>400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19202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Calibri"/>
              </a:defRPr>
            </a:pPr>
            <a:r>
              <a:t>Suppliers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79" y="2880360"/>
            <a:ext cx="3931920" cy="9144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0" y="2926079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CA5A5"/>
                </a:solidFill>
                <a:latin typeface="Calibri"/>
              </a:defRPr>
            </a:pPr>
            <a:r>
              <a:t>8,000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0" y="30632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Calibri"/>
              </a:defRPr>
            </a:pPr>
            <a:r>
              <a:t>Defect Descriptions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79" y="4023360"/>
            <a:ext cx="3931920" cy="9144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80960" y="406908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DE68A"/>
                </a:solidFill>
                <a:latin typeface="Calibri"/>
              </a:defRPr>
            </a:pPr>
            <a:r>
              <a:t>30,000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0" y="42062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Calibri"/>
              </a:defRPr>
            </a:pPr>
            <a:r>
              <a:t>Warranty Complaints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98079" y="5166360"/>
            <a:ext cx="3931920" cy="9144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80960" y="521208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38BDF8"/>
                </a:solidFill>
                <a:latin typeface="Calibri"/>
              </a:defRPr>
            </a:pPr>
            <a:r>
              <a:t>50,000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0" y="53492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Calibri"/>
              </a:defRPr>
            </a:pPr>
            <a:r>
              <a:t>Purchase Orders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2C55E"/>
                </a:solidFill>
                <a:latin typeface="Calibri"/>
              </a:defRPr>
            </a:pPr>
            <a:r>
              <a:t>TASK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640080"/>
            <a:ext cx="10698480" cy="381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8FAFC"/>
                </a:solidFill>
                <a:latin typeface="Calibri"/>
              </a:defRPr>
            </a:pPr>
            <a:r>
              <a:t>What We Need to Build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737360"/>
            <a:ext cx="10332720" cy="777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1783080"/>
            <a:ext cx="457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2C55E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17830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8FAFC"/>
                </a:solidFill>
                <a:latin typeface="Calibri"/>
              </a:defRPr>
            </a:pPr>
            <a:r>
              <a:t>Continuously monitor all 400 suppliers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2121408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No quarterly reviews. Real-time scoring.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2651760"/>
            <a:ext cx="10332720" cy="777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2697479"/>
            <a:ext cx="457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2C55E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2697479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8FAFC"/>
                </a:solidFill>
                <a:latin typeface="Calibri"/>
              </a:defRPr>
            </a:pPr>
            <a:r>
              <a:t>Use AI to analyze unstructured text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3035808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Defect descriptions + customer complaints.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3566160"/>
            <a:ext cx="10332720" cy="777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88720" y="3611879"/>
            <a:ext cx="457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2C55E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3611879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8FAFC"/>
                </a:solidFill>
                <a:latin typeface="Calibri"/>
              </a:defRPr>
            </a:pPr>
            <a:r>
              <a:t>Score every supplier on a single risk index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3950208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One number (0-100) that captures everything.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4480560"/>
            <a:ext cx="10332720" cy="777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88720" y="4526280"/>
            <a:ext cx="457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2C55E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45262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8FAFC"/>
                </a:solidFill>
                <a:latin typeface="Calibri"/>
              </a:defRPr>
            </a:pPr>
            <a:r>
              <a:t>Flag at-risk purchase orders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28800" y="4864608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Dollar exposure tied to bad suppliers.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400" y="5394960"/>
            <a:ext cx="10332720" cy="777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88720" y="5440680"/>
            <a:ext cx="457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2C55E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28800" y="54406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8FAFC"/>
                </a:solidFill>
                <a:latin typeface="Calibri"/>
              </a:defRPr>
            </a:pPr>
            <a:r>
              <a:t>Alert the team before crisis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28800" y="5779008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Autonomous monitoring, not manual checks.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286000" y="6263640"/>
            <a:ext cx="7589520" cy="502920"/>
          </a:xfrm>
          <a:prstGeom prst="roundRect">
            <a:avLst/>
          </a:prstGeom>
          <a:solidFill>
            <a:srgbClr val="14532D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286000" y="6309360"/>
            <a:ext cx="7589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2C55E"/>
                </a:solidFill>
                <a:latin typeface="Calibri"/>
              </a:defRPr>
            </a:pPr>
            <a:r>
              <a:t>All on Snowflake.  No external infrastructure.  Fully autonomous.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2C55E"/>
                </a:solidFill>
                <a:latin typeface="Calibri"/>
              </a:defRPr>
            </a:pPr>
            <a:r>
              <a:t>ACTION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640080"/>
            <a:ext cx="10698480" cy="381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8FAFC"/>
                </a:solidFill>
                <a:latin typeface="Calibri"/>
              </a:defRPr>
            </a:pPr>
            <a:r>
              <a:t>Pipeline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828800"/>
            <a:ext cx="3200400" cy="10972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874519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2C55E"/>
                </a:solidFill>
                <a:latin typeface="Calibri"/>
              </a:defRPr>
            </a:pPr>
            <a:r>
              <a:t>AUTO_MFG_DW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4028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SUPPLIERS (400)</a:t>
            </a:r>
            <a:br/>
            <a:r>
              <a:t>DEFECTS (8,000)</a:t>
            </a:r>
            <a:br/>
            <a:r>
              <a:t>WARRANTY CLAIMS (30,000)</a:t>
            </a:r>
            <a:br/>
            <a:r>
              <a:t>PURCHASE ORDERS (50,000)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0" y="1645920"/>
            <a:ext cx="2011680" cy="6400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06240" y="169164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CA5A5"/>
                </a:solidFill>
                <a:latin typeface="Calibri"/>
              </a:defRPr>
            </a:pPr>
            <a:r>
              <a:t>AI_CLASSIFY</a:t>
            </a:r>
            <a:br/>
            <a:r>
              <a:t>8K defect texts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0" y="2468880"/>
            <a:ext cx="2011680" cy="6400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06240" y="251460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DE68A"/>
                </a:solidFill>
                <a:latin typeface="Calibri"/>
              </a:defRPr>
            </a:pPr>
            <a:r>
              <a:t>SENTIMENT</a:t>
            </a:r>
            <a:br/>
            <a:r>
              <a:t>30K complaints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0" y="1645920"/>
            <a:ext cx="2560320" cy="14630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0" y="169164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2C55E"/>
                </a:solidFill>
                <a:latin typeface="Calibri"/>
              </a:defRPr>
            </a:pPr>
            <a:r>
              <a:t>SUPPLIER_QUALITY_SCORE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0" y="20116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Dynamic Table | 1hr refresh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0" y="237744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8FAFC"/>
                </a:solidFill>
                <a:latin typeface="Calibri"/>
              </a:defRPr>
            </a:pPr>
            <a:r>
              <a:t>400 suppliers scored</a:t>
            </a:r>
            <a:br/>
            <a:r>
              <a:t>Composite Risk 0-100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0" y="3474720"/>
            <a:ext cx="2560320" cy="10972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66560" y="352044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2C55E"/>
                </a:solidFill>
                <a:latin typeface="Calibri"/>
              </a:defRPr>
            </a:pPr>
            <a:r>
              <a:t>AT_RISK_PURCHASE_ORDERS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38404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Dynamic Table | 1hr refresh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6560" y="416052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8FAFC"/>
                </a:solidFill>
                <a:latin typeface="Calibri"/>
              </a:defRPr>
            </a:pPr>
            <a:r>
              <a:t>16,408 at-risk POs flagged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601200" y="1645920"/>
            <a:ext cx="2103120" cy="7315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92640" y="169164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CA5A5"/>
                </a:solidFill>
                <a:latin typeface="Calibri"/>
              </a:defRPr>
            </a:pPr>
            <a:r>
              <a:t>ALERT (60 min)</a:t>
            </a:r>
            <a:br/>
            <a:r>
              <a:t>Critical risk detection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601200" y="2651760"/>
            <a:ext cx="2103120" cy="7315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92640" y="269748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8BDF8"/>
                </a:solidFill>
                <a:latin typeface="Calibri"/>
              </a:defRPr>
            </a:pPr>
            <a:r>
              <a:t>TASK (daily 6AM)</a:t>
            </a:r>
            <a:br/>
            <a:r>
              <a:t>Risk score snapshots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601200" y="3657600"/>
            <a:ext cx="2103120" cy="7315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92640" y="370332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6EFAC"/>
                </a:solidFill>
                <a:latin typeface="Calibri"/>
              </a:defRPr>
            </a:pPr>
            <a:r>
              <a:t>STREAMLIT</a:t>
            </a:r>
            <a:br/>
            <a:r>
              <a:t>5-tab dashboard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601200" y="4663440"/>
            <a:ext cx="2103120" cy="5486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92640" y="470916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78BFA"/>
                </a:solidFill>
                <a:latin typeface="Calibri"/>
              </a:defRPr>
            </a:pPr>
            <a:r>
              <a:t>DMF</a:t>
            </a:r>
            <a:br/>
            <a:r>
              <a:t>Unmanaged risk count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0" y="20116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22C55E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66160" y="265176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22C55E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26480" y="210312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22C55E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26480" y="274320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22C55E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0" y="210312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22C55E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29260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22C55E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5029200"/>
            <a:ext cx="8686800" cy="13716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" y="50749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2C55E"/>
                </a:solidFill>
                <a:latin typeface="Calibri"/>
              </a:defRPr>
            </a:pPr>
            <a:r>
              <a:t>COMPOSITE RISK SCORE FORMULA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" y="539496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8FAFC"/>
                </a:solidFill>
                <a:latin typeface="Calibri"/>
              </a:defRPr>
            </a:pPr>
            <a:r>
              <a:t>30%  AI-classified defect risk (AI_CLASSIFY)     +     20%  Defect volume (capped at 50)</a:t>
            </a:r>
            <a:br/>
            <a:r>
              <a:t>20%  Inverse quality rating (supplier master)     +     15%  Warranty claims (capped at 200)</a:t>
            </a:r>
            <a:br/>
            <a:r>
              <a:t>15%  Negative customer sentiment (SENTIMENT)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2C55E"/>
                </a:solidFill>
                <a:latin typeface="Calibri"/>
              </a:defRPr>
            </a:pPr>
            <a:r>
              <a:t>ACTION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640080"/>
            <a:ext cx="10698480" cy="381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8FAFC"/>
                </a:solidFill>
                <a:latin typeface="Calibri"/>
              </a:defRPr>
            </a:pPr>
            <a:r>
              <a:t>5-Tab Dashboard (Streamlit-in-Snowflake)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645920"/>
            <a:ext cx="11247120" cy="868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CA5A5"/>
                </a:solidFill>
                <a:latin typeface="Calibri"/>
              </a:defRPr>
            </a:pPr>
            <a:r>
              <a:t>EXECUTIVE OVERVIEW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C-Suite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0" y="1691640"/>
            <a:ext cx="8046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8FAFC"/>
                </a:solidFill>
                <a:latin typeface="Calibri"/>
              </a:defRPr>
            </a:pPr>
            <a:r>
              <a:t>5 KPI cards with hover tooltips</a:t>
            </a:r>
            <a:br/>
            <a:r>
              <a:t>Vega-Lite charts (risk by tier, top 10)</a:t>
            </a:r>
            <a:br/>
            <a:r>
              <a:t>Top-N exposure selector</a:t>
            </a:r>
            <a:br/>
            <a:r>
              <a:t>"View in Explorer" cross-tab nav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651760"/>
            <a:ext cx="11247120" cy="868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6974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DE68A"/>
                </a:solidFill>
                <a:latin typeface="Calibri"/>
              </a:defRPr>
            </a:pPr>
            <a:r>
              <a:t>MANAGER DASHBOARD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0175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Operations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2697480"/>
            <a:ext cx="8046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8FAFC"/>
                </a:solidFill>
                <a:latin typeface="Calibri"/>
              </a:defRPr>
            </a:pPr>
            <a:r>
              <a:t>Filterable supplier scorecard (3 filters)</a:t>
            </a:r>
            <a:br/>
            <a:r>
              <a:t>Conditional formatting on risk + score</a:t>
            </a:r>
            <a:br/>
            <a:r>
              <a:t>At-risk PO table with exposure highlighting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657600"/>
            <a:ext cx="11247120" cy="868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7033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8BDF8"/>
                </a:solidFill>
                <a:latin typeface="Calibri"/>
              </a:defRPr>
            </a:pPr>
            <a:r>
              <a:t>SUPPLIER DEEP DIVE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0233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Analysts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0" y="3703320"/>
            <a:ext cx="8046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8FAFC"/>
                </a:solidFill>
                <a:latin typeface="Calibri"/>
              </a:defRPr>
            </a:pPr>
            <a:r>
              <a:t>Single-supplier investigation</a:t>
            </a:r>
            <a:br/>
            <a:r>
              <a:t>8 metric cards with methodology</a:t>
            </a:r>
            <a:br/>
            <a:r>
              <a:t>AI_COMPLETE risk summary button</a:t>
            </a:r>
            <a:br/>
            <a:r>
              <a:t>Per-supplier PO table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4663440"/>
            <a:ext cx="11247120" cy="868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7091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86EFAC"/>
                </a:solidFill>
                <a:latin typeface="Calibri"/>
              </a:defRPr>
            </a:pPr>
            <a:r>
              <a:t>DATA EXPLORER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0292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Power Users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74720" y="4709160"/>
            <a:ext cx="8046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8FAFC"/>
                </a:solidFill>
                <a:latin typeface="Calibri"/>
              </a:defRPr>
            </a:pPr>
            <a:r>
              <a:t>12 filters across 3 rows</a:t>
            </a:r>
            <a:br/>
            <a:r>
              <a:t>Export to Stage (COPY INTO)</a:t>
            </a:r>
            <a:br/>
            <a:r>
              <a:t>Show SQL query</a:t>
            </a:r>
            <a:br/>
            <a:r>
              <a:t>Results: row count, suppliers, exposure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5669280"/>
            <a:ext cx="11247120" cy="868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57150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A78BFA"/>
                </a:solidFill>
                <a:latin typeface="Calibri"/>
              </a:defRPr>
            </a:pPr>
            <a:r>
              <a:t>ALERTS &amp; SYSTEM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60350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Ops/Admin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74720" y="5715000"/>
            <a:ext cx="8046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8FAFC"/>
                </a:solidFill>
                <a:latin typeface="Calibri"/>
              </a:defRPr>
            </a:pPr>
            <a:r>
              <a:t>Alert history table</a:t>
            </a:r>
            <a:br/>
            <a:r>
              <a:t>Pipeline architecture reference</a:t>
            </a:r>
            <a:br/>
            <a:r>
              <a:t>7 Snowflake features documented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6537959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Calibri"/>
              </a:defRPr>
            </a:pPr>
            <a:r>
              <a:t>Dark / Light theme toggle  |  Smooth CSS transitions  |  Hover tooltips on every KPI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2C55E"/>
                </a:solidFill>
                <a:latin typeface="Calibri"/>
              </a:defRPr>
            </a:pPr>
            <a:r>
              <a:t>ACTION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640080"/>
            <a:ext cx="10698480" cy="381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8FAFC"/>
                </a:solidFill>
                <a:latin typeface="Calibri"/>
              </a:defRPr>
            </a:pPr>
            <a:r>
              <a:t>LIVE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200400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22C55E"/>
                </a:solidFill>
                <a:latin typeface="Calibri"/>
              </a:defRPr>
            </a:pPr>
            <a:r>
              <a:t>[ Switch to Streamlit App Screen Recording 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4114800"/>
            <a:ext cx="7589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4A3B8"/>
                </a:solidFill>
                <a:latin typeface="Calibri"/>
              </a:defRPr>
            </a:pPr>
            <a:r>
              <a:t>•  Executive Overview: KPI cards, charts, Top-N selector</a:t>
            </a:r>
            <a:br/>
            <a:br/>
            <a:r>
              <a:t>•  Click "View in Explorer" for cross-tab navigation</a:t>
            </a:r>
            <a:br/>
            <a:br/>
            <a:r>
              <a:t>•  Data Explorer: apply filters, see results update live</a:t>
            </a:r>
            <a:br/>
            <a:br/>
            <a:r>
              <a:t>•  Supplier Deep Dive: select critical supplier, generate AI summary</a:t>
            </a:r>
            <a:br/>
            <a:br/>
            <a:r>
              <a:t>•  Toggle dark / light theme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2C55E"/>
                </a:solidFill>
                <a:latin typeface="Calibri"/>
              </a:defRPr>
            </a:pPr>
            <a:r>
              <a:t>RESULT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640080"/>
            <a:ext cx="10698480" cy="381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8FAFC"/>
                </a:solidFill>
                <a:latin typeface="Calibri"/>
              </a:defRPr>
            </a:pPr>
            <a:r>
              <a:t>What We Found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3474720" cy="1828800"/>
          </a:xfrm>
          <a:prstGeom prst="roundRect">
            <a:avLst/>
          </a:prstGeom>
          <a:solidFill>
            <a:srgbClr val="7F1D1D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>
                <a:solidFill>
                  <a:srgbClr val="FCA5A5"/>
                </a:solidFill>
                <a:latin typeface="Calibri"/>
              </a:defRPr>
            </a:pPr>
            <a:r>
              <a:t>33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5603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CA5A5"/>
                </a:solidFill>
                <a:latin typeface="Calibri"/>
              </a:defRPr>
            </a:pPr>
            <a:r>
              <a:t>CRITICAL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7180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  <a:latin typeface="Calibri"/>
              </a:defRPr>
            </a:pPr>
            <a:r>
              <a:t>Avg score 60.4</a:t>
            </a:r>
            <a:br/>
            <a:r>
              <a:t>Avg 43 defects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0" y="1737360"/>
            <a:ext cx="3474720" cy="1828800"/>
          </a:xfrm>
          <a:prstGeom prst="roundRect">
            <a:avLst/>
          </a:prstGeom>
          <a:solidFill>
            <a:srgbClr val="78350F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828800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>
                <a:solidFill>
                  <a:srgbClr val="FDE68A"/>
                </a:solidFill>
                <a:latin typeface="Calibri"/>
              </a:defRPr>
            </a:pPr>
            <a:r>
              <a:t>294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5603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DE68A"/>
                </a:solidFill>
                <a:latin typeface="Calibri"/>
              </a:defRPr>
            </a:pPr>
            <a:r>
              <a:t>WARNING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97180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  <a:latin typeface="Calibri"/>
              </a:defRPr>
            </a:pPr>
            <a:r>
              <a:t>Avg score 46.8</a:t>
            </a:r>
            <a:br/>
            <a:r>
              <a:t>Avg 21 defects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12480" y="1737360"/>
            <a:ext cx="3474720" cy="1828800"/>
          </a:xfrm>
          <a:prstGeom prst="roundRect">
            <a:avLst/>
          </a:prstGeom>
          <a:solidFill>
            <a:srgbClr val="14532D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0" y="1828800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>
                <a:solidFill>
                  <a:srgbClr val="86EFAC"/>
                </a:solidFill>
                <a:latin typeface="Calibri"/>
              </a:defRPr>
            </a:pPr>
            <a:r>
              <a:t>73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25603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86EFAC"/>
                </a:solidFill>
                <a:latin typeface="Calibri"/>
              </a:defRPr>
            </a:pPr>
            <a:r>
              <a:t>HEALTHY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297180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  <a:latin typeface="Calibri"/>
              </a:defRPr>
            </a:pPr>
            <a:r>
              <a:t>Avg score 33.8</a:t>
            </a:r>
            <a:br/>
            <a:r>
              <a:t>Avg 7 defects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4023360"/>
            <a:ext cx="2651760" cy="11887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411480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CA5A5"/>
                </a:solidFill>
                <a:latin typeface="Calibri"/>
              </a:defRPr>
            </a:pPr>
            <a:r>
              <a:t>16,408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66344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  <a:latin typeface="Calibri"/>
              </a:defRPr>
            </a:pPr>
            <a:r>
              <a:t>At-Risk POs Flagged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383280" y="4023360"/>
            <a:ext cx="2651760" cy="11887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383280" y="411480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A78BFA"/>
                </a:solidFill>
                <a:latin typeface="Calibri"/>
              </a:defRPr>
            </a:pPr>
            <a:r>
              <a:t>$207.4B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83280" y="466344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  <a:latin typeface="Calibri"/>
              </a:defRPr>
            </a:pPr>
            <a:r>
              <a:t>Dollar Exposure Tracked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09360" y="4023360"/>
            <a:ext cx="2651760" cy="11887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09360" y="411480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DE68A"/>
                </a:solidFill>
                <a:latin typeface="Calibri"/>
              </a:defRPr>
            </a:pPr>
            <a:r>
              <a:t>11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60" y="466344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  <a:latin typeface="Calibri"/>
              </a:defRPr>
            </a:pPr>
            <a:r>
              <a:t>Gotchas Documented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235440" y="4023360"/>
            <a:ext cx="2651760" cy="11887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235440" y="411480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22C55E"/>
                </a:solidFill>
                <a:latin typeface="Calibri"/>
              </a:defRPr>
            </a:pPr>
            <a:r>
              <a:t>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35440" y="466344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  <a:latin typeface="Calibri"/>
              </a:defRPr>
            </a:pPr>
            <a:r>
              <a:t>Snowflake Features Used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14400" y="5486400"/>
            <a:ext cx="10332720" cy="914400"/>
          </a:xfrm>
          <a:prstGeom prst="roundRect">
            <a:avLst/>
          </a:prstGeom>
          <a:solidFill>
            <a:srgbClr val="14532D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97280" y="553212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2C55E"/>
                </a:solidFill>
                <a:latin typeface="Calibri"/>
              </a:defRPr>
            </a:pPr>
            <a:r>
              <a:t>Everything is real.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" y="585216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8FAFC"/>
                </a:solidFill>
                <a:latin typeface="Calibri"/>
              </a:defRPr>
            </a:pPr>
            <a:r>
              <a:t>No mocked data. No hardcoded numbers. AI classifying real text. Pipeline refreshing itself. Alert monitoring continuously.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2C55E"/>
                </a:solidFill>
                <a:latin typeface="Calibri"/>
              </a:defRPr>
            </a:pPr>
            <a:r>
              <a:t>RESULT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640080"/>
            <a:ext cx="10698480" cy="381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8FAFC"/>
                </a:solidFill>
                <a:latin typeface="Calibri"/>
              </a:defRPr>
            </a:pPr>
            <a:r>
              <a:t>8 Snowflake Features -- Intentional Composition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645920"/>
            <a:ext cx="11247120" cy="5486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71907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2C55E"/>
                </a:solidFill>
                <a:latin typeface="Calibri"/>
              </a:defRPr>
            </a:pPr>
            <a:r>
              <a:t>Dynamic Tables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171907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SUPPLIER_QUALITY_SCORE + AT_RISK_PURCHASE_ORDERS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71907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8FAFC"/>
                </a:solidFill>
                <a:latin typeface="Calibri"/>
              </a:defRPr>
            </a:pPr>
            <a:r>
              <a:t>Chained pipeline, 1-hour auto-refresh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286000"/>
            <a:ext cx="11247120" cy="5486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35915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CA5A5"/>
                </a:solidFill>
                <a:latin typeface="Calibri"/>
              </a:defRPr>
            </a:pPr>
            <a:r>
              <a:t>AI_CLASSIFY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235915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Inside DT1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35915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8FAFC"/>
                </a:solidFill>
                <a:latin typeface="Calibri"/>
              </a:defRPr>
            </a:pPr>
            <a:r>
              <a:t>8,000 defect descriptions → risk categories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926080"/>
            <a:ext cx="11247120" cy="5486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99923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DE68A"/>
                </a:solidFill>
                <a:latin typeface="Calibri"/>
              </a:defRPr>
            </a:pPr>
            <a:r>
              <a:t>SENTIMENT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299923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Inside DT1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99923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8FAFC"/>
                </a:solidFill>
                <a:latin typeface="Calibri"/>
              </a:defRPr>
            </a:pPr>
            <a:r>
              <a:t>30,000 warranty complaints → severity scores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3566159"/>
            <a:ext cx="11247120" cy="5486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3639311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8BDF8"/>
                </a:solidFill>
                <a:latin typeface="Calibri"/>
              </a:defRPr>
            </a:pPr>
            <a:r>
              <a:t>AI_COMPLETE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26080" y="3639311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Streamlit on-demand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3639311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8FAFC"/>
                </a:solidFill>
                <a:latin typeface="Calibri"/>
              </a:defRPr>
            </a:pPr>
            <a:r>
              <a:t>Natural-language risk summaries per supplier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4206240"/>
            <a:ext cx="11247120" cy="5486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427939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CA5A5"/>
                </a:solidFill>
                <a:latin typeface="Calibri"/>
              </a:defRPr>
            </a:pPr>
            <a:r>
              <a:t>Alert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26080" y="427939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SUPPLIER_RISK_ALERT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427939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8FAFC"/>
                </a:solidFill>
                <a:latin typeface="Calibri"/>
              </a:defRPr>
            </a:pPr>
            <a:r>
              <a:t>60-min check for unmanaged critical suppliers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4846320"/>
            <a:ext cx="11247120" cy="5486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491947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8BDF8"/>
                </a:solidFill>
                <a:latin typeface="Calibri"/>
              </a:defRPr>
            </a:pPr>
            <a:r>
              <a:t>Task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926080" y="491947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RISK_SCORE_SNAPSHOT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491947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8FAFC"/>
                </a:solidFill>
                <a:latin typeface="Calibri"/>
              </a:defRPr>
            </a:pPr>
            <a:r>
              <a:t>Daily 6 AM ET snapshots for trend tracking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5486399"/>
            <a:ext cx="11247120" cy="5486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5559551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A78BFA"/>
                </a:solidFill>
                <a:latin typeface="Calibri"/>
              </a:defRPr>
            </a:pPr>
            <a:r>
              <a:t>DMF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26080" y="5559551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UNMANAGED_RISK_COUNT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5559551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8FAFC"/>
                </a:solidFill>
                <a:latin typeface="Calibri"/>
              </a:defRPr>
            </a:pPr>
            <a:r>
              <a:t>Data quality metric: risk-action gap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6126479"/>
            <a:ext cx="11247120" cy="5486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1520" y="6199631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86EFAC"/>
                </a:solidFill>
                <a:latin typeface="Calibri"/>
              </a:defRPr>
            </a:pPr>
            <a:r>
              <a:t>Streamlit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926080" y="6199631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SUPPLY_CHAIN_MONITOR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0" y="6199631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8FAFC"/>
                </a:solidFill>
                <a:latin typeface="Calibri"/>
              </a:defRPr>
            </a:pPr>
            <a:r>
              <a:t>5-tab dashboard, dark/light theme, 12 filters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94A3B8"/>
                </a:solidFill>
                <a:latin typeface="Calibri"/>
              </a:defRPr>
            </a:pPr>
            <a:r>
              <a:t>Not a checklist -- a pipeline. Each feature serves a specific purpose in the data flow.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0" y="1371600"/>
            <a:ext cx="9418320" cy="381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55448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8FAFC"/>
                </a:solidFill>
                <a:latin typeface="Calibri"/>
              </a:defRPr>
            </a:pPr>
            <a:r>
              <a:t>How Baked Is It?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0" y="2560320"/>
            <a:ext cx="3931920" cy="1371600"/>
          </a:xfrm>
          <a:prstGeom prst="roundRect">
            <a:avLst/>
          </a:prstGeom>
          <a:solidFill>
            <a:srgbClr val="14532D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0" y="2606040"/>
            <a:ext cx="3931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400" b="1">
                <a:solidFill>
                  <a:srgbClr val="22C55E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0" y="329184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86EFAC"/>
                </a:solidFill>
                <a:latin typeface="Calibri"/>
              </a:defRPr>
            </a:pPr>
            <a:r>
              <a:t>Usable by Others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420624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8FAFC"/>
                </a:solidFill>
                <a:latin typeface="Calibri"/>
              </a:defRPr>
            </a:pPr>
            <a:r>
              <a:t>✓  Error handling on every data load + empty state checks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4553712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8FAFC"/>
                </a:solidFill>
                <a:latin typeface="Calibri"/>
              </a:defRPr>
            </a:pPr>
            <a:r>
              <a:t>✓  Graceful AI fallback when model unavailable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4901183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8FAFC"/>
                </a:solidFill>
                <a:latin typeface="Calibri"/>
              </a:defRPr>
            </a:pPr>
            <a:r>
              <a:t>✓  12-filter Data Explorer usable without documentation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5248656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8FAFC"/>
                </a:solidFill>
                <a:latin typeface="Calibri"/>
              </a:defRPr>
            </a:pPr>
            <a:r>
              <a:t>✓  Dark/light theme with smooth transitions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0" y="5596127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8FAFC"/>
                </a:solidFill>
                <a:latin typeface="Calibri"/>
              </a:defRPr>
            </a:pPr>
            <a:r>
              <a:t>✓  Loading spinner, input sanitization, session state safety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371600" y="6035040"/>
            <a:ext cx="9418320" cy="381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71600" y="6217920"/>
            <a:ext cx="9418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8FAFC"/>
                </a:solidFill>
                <a:latin typeface="Calibri"/>
              </a:defRPr>
            </a:pPr>
            <a:r>
              <a:t>SUPPLY CHAIN RISK MONITOR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6492240"/>
            <a:ext cx="9418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Calibri"/>
              </a:defRPr>
            </a:pPr>
            <a:r>
              <a:t>Data in the D 2026  |  Hack the Grind  |  Built with CoCo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